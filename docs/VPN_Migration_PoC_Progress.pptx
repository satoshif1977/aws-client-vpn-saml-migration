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99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Client VPN 移行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Phase 1 — 進捗レポート（学習用）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VPN → SAML（OneLogin）認証への切り替え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対象：ap-northeast-1 / PoC 環境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作成日：2026-03-26　担当：担当者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4023360"/>
            <a:ext cx="2011680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858000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進行中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移行の背景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74904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現行（Cisco VPN）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ASA5512 が近日 EOL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ADグループ SID ベースで認可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SIDは機械可読のみ・管理コスト高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ユーザー側：手動設定が必要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114800" cy="3749040"/>
          </a:xfrm>
          <a:prstGeom prst="rect">
            <a:avLst/>
          </a:prstGeom>
          <a:solidFill>
            <a:srgbClr val="F0FDF9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11480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846320" y="868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移行後（AWS Client VPN）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マネージドサービス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SAML（OneLogin）で認証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ロール名（文字列）ベースで認可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OneLogin 統合でユーザー管理を集約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認証・認可の仕組みの変化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</a:rPr>
              <a:t>現行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ユーザー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VPN接続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5252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210312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74320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Cisco VPN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トンネル確立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525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2080" y="1234440"/>
            <a:ext cx="210312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21208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AD 認証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SID で認可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7498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1488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ADグループ SID（S-1-5-21-XXXXXXXX）で「どこにアクセスできるか」を判定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移行後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1920240" cy="777240"/>
          </a:xfrm>
          <a:prstGeom prst="rect">
            <a:avLst/>
          </a:prstGeom>
          <a:solidFill>
            <a:srgbClr val="E1F5EE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743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</a:rPr>
              <a:t>ユーザー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VPN接続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32461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6E56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23160" y="3063240"/>
            <a:ext cx="1920240" cy="777240"/>
          </a:xfrm>
          <a:prstGeom prst="rect">
            <a:avLst/>
          </a:prstGeom>
          <a:solidFill>
            <a:srgbClr val="E1F5EE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4231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</a:rPr>
              <a:t>AWS Client VPN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2316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SAML認証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32461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6E56"/>
                </a:solidFill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0" y="3063240"/>
            <a:ext cx="1920240" cy="777240"/>
          </a:xfrm>
          <a:prstGeom prst="rect">
            <a:avLst/>
          </a:prstGeom>
          <a:solidFill>
            <a:srgbClr val="E1F5EE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5720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</a:rPr>
              <a:t>OneLogin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IdP / SAML発行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2461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6E56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720840" y="3063240"/>
            <a:ext cx="1920240" cy="777240"/>
          </a:xfrm>
          <a:prstGeom prst="rect">
            <a:avLst/>
          </a:prstGeom>
          <a:solidFill>
            <a:srgbClr val="E1F5EE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7208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</a:rPr>
              <a:t>認可ルール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memberOf 照合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50208"/>
            <a:ext cx="8412480" cy="457200"/>
          </a:xfrm>
          <a:prstGeom prst="rect">
            <a:avLst/>
          </a:prstGeom>
          <a:solidFill>
            <a:srgbClr val="E1F5EE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274320" y="39502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</a:rPr>
              <a:t>memberOf 属性（ロール名の文字列）で認可 ─ 大文字・小文字・ハイフンまで完全一致が必須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1：ADグループ → OneLogin ロール 対応表（全8グループ）</a:t>
            </a:r>
            <a:endParaRPr lang="en-US" sz="1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78561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ADグループ名（現行）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OneLogin ロール名（移行後）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VpnClient-OtherSystem-Admin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VpnClient-OtherSystem-Admin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社内管理者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SID確定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VpnClient-OtherSystem-User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VpnClient-OtherSystem-User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社内一般ユーザー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SID確定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VpnClient-ExtVender-VendorA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VpnClient-ExtVender-VendorA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外部ベンダー（VendorA）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SID確定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VpnClient-ExtVender-VendorB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VpnClient-ExtVender-VendorB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外部ベンダー（VendorB）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SID確定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VpnClient-Main-CORP-Overseas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VpnClient-Main-CORP-Overseas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海外拠点スタッフ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SID確認中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VpnClient-Main-DMC-User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VpnClient-Main-DMC-User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DMCユーザー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SID確認中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VpnClient-Sub-SAPCloud-Admin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VpnClient-Sub-SAPCloud-Admin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Cloud 管理者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SID確認中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VpnClient-Sub-TTP-Admin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VpnClient-Sub-TTP-Admin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TTP 管理者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SID確認中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5252"/>
                </a:solidFill>
              </a:rPr>
              <a:t>※ ロール名は大文字・小文字・ハイフンまで完全一致。対応表からコピペして設定すること。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2：OneLogin ロール作成手順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0876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管理コンソールへ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234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822960"/>
            <a:ext cx="150876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011680" y="8412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01168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Role 作成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822960"/>
            <a:ext cx="150876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749040" y="8412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ユーザー割り当て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234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822960"/>
            <a:ext cx="150876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0" y="8412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8640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SAML Attribute 設定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234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822960"/>
            <a:ext cx="150876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223760" y="8412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22376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動作確認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2423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Roles を開く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2423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対応表からロール名をコピペ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03320" y="2423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ADグループと同じメンバーを追加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423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 に「User Roles」をマッピング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2423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でログを確認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8595360" cy="1554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273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3806"/>
                </a:solidFill>
              </a:rPr>
              <a:t>最重要：Step 4 の memberOf 属性設定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63931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App（AWS Client VPN）→ Parameters タブ → Attribute Name：</a:t>
            </a:r>
            <a:r>
              <a:rPr lang="en-US" sz="12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</a:t>
            </a: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Value：</a:t>
            </a:r>
            <a:r>
              <a:rPr lang="en-US" sz="12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Include in SAML：ON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ここを設定しないと SAML アサーションに memberOf が含まれず、AWS 側で全員接続不可になる。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3：AWS Client VPN 認可ルール設定状況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今すぐ設定可能（16件）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23360" cy="502920"/>
          </a:xfrm>
          <a:prstGeom prst="rect">
            <a:avLst/>
          </a:prstGeom>
          <a:solidFill>
            <a:srgbClr val="F0FDF9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VpnClient-OtherSystem-Admin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87168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10.1〜10.214（10件）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892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VpnClient-OtherSystem-User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87168" y="18928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10.2.1.X/32, 10.200.1.0/24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4023360" cy="502920"/>
          </a:xfrm>
          <a:prstGeom prst="rect">
            <a:avLst/>
          </a:prstGeom>
          <a:solidFill>
            <a:srgbClr val="F0FDF9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4597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VpnClient-ExtVender-VendorA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87168" y="245973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10.200.1.0/24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65760" y="30266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VpnClient-ExtVender-VendorB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87168" y="30266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10.214.0.0/16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93592"/>
            <a:ext cx="4023360" cy="502920"/>
          </a:xfrm>
          <a:prstGeom prst="rect">
            <a:avLst/>
          </a:prstGeom>
          <a:solidFill>
            <a:srgbClr val="F0FDF9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5760" y="35935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（全ユーザー共通）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7168" y="3593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10.2.1.X/32, 10.2.1.X/32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MTG 後に設定（4グループ）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402336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VpnClient-Main-CORP-Overseas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07808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確認中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89280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937760" y="1892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VpnClient-Main-DMC-User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07808" y="18928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確認中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459736"/>
            <a:ext cx="402336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937760" y="24597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VpnClient-Sub-SAPCloud-Admin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07808" y="24597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確認中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026664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937760" y="3026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VpnClient-Sub-TTP-Admin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07808" y="30266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確認中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エンドポイント：cvpn-endpoint-XXXXXXXXXXXXXXXXX　|　ログ：/aws/clientvpn/poc　|　リージョン：ap-northeast-1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4：中国拠点 接続テスト概要（PoC 核心）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テスト前提条件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47472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OneLogin アカウント + MFA 設定済み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347472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17190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対応 OneLogin ロールに割り当て済み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347472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176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.ovpn ファイル配布済み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347472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633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AWS VPN Client インストール済み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347472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74320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Cisco VPN は切り戻し用に残存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テストフロー（4ステップ）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61872"/>
            <a:ext cx="41148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754880" y="126187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12080" y="1261872"/>
            <a:ext cx="3566160" cy="548640"/>
          </a:xfrm>
          <a:prstGeom prst="rect">
            <a:avLst/>
          </a:prstGeom>
          <a:solidFill>
            <a:srgbClr val="F0FDF9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303520" y="12618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VPN 接続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126187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TCP 443 優先（GFW対策）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011680"/>
            <a:ext cx="41148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12080" y="2011680"/>
            <a:ext cx="3566160" cy="548640"/>
          </a:xfrm>
          <a:prstGeom prst="rect">
            <a:avLst/>
          </a:prstGeom>
          <a:solidFill>
            <a:srgbClr val="F0FDF9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30352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疎通テスト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2011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ping 10.2.1.X / .42（全グループ共通）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761488"/>
            <a:ext cx="41148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27614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12080" y="2761488"/>
            <a:ext cx="3566160" cy="548640"/>
          </a:xfrm>
          <a:prstGeom prst="rect">
            <a:avLst/>
          </a:prstGeom>
          <a:solidFill>
            <a:srgbClr val="F0FDF9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303520" y="27614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業務システム確認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27614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グループ確定後にURL追記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511296"/>
            <a:ext cx="41148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754880" y="351129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12080" y="3511296"/>
            <a:ext cx="3566160" cy="548640"/>
          </a:xfrm>
          <a:prstGeom prst="rect">
            <a:avLst/>
          </a:prstGeom>
          <a:solidFill>
            <a:srgbClr val="F0FDF9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303520" y="351129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切断・再接続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351129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Disconnect → 再ログイン確認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252"/>
                </a:solidFill>
              </a:rPr>
              <a:t>切り戻し基準：30分以内に解決できない場合 → Cisco VPN に即時切り戻し（切り戻し判断者：担当者）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MTG 優先確認事項 TOP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0" cy="6858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804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中国拠点ユーザーの AD グループ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PoC 核心。グループ不明 = 認可ルール作成不可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941832"/>
            <a:ext cx="777240" cy="3931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955280" y="941832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最高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6400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6093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Q6〜9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16093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グループ 5〜8 のアクセス先 IP リスト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56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認可ルール4件が未設定のまま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746504"/>
            <a:ext cx="777240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955280" y="1746504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14016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274320" y="2414016"/>
            <a:ext cx="6400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74320" y="241401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Q13・14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4140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OneLogin ロール作成・SAML 設定の完了確認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Task 2 の前提条件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2551176"/>
            <a:ext cx="777240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955280" y="2551176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3218688"/>
            <a:ext cx="6400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74320" y="32186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218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PoC テスト期間（スケジュール）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3月末 EOL 前に完了できるか確認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3355848"/>
            <a:ext cx="777240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7955280" y="3355848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85B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640080" cy="68580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274320" y="40233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Cisco VPN への切り戻し可否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4370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テスト中のリスク管理に必須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55280" y="4160520"/>
            <a:ext cx="777240" cy="393192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7955280" y="4160520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中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ネクストアクション &amp; スケジュール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F0FDF9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950976"/>
            <a:ext cx="91440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9509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8046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Task 1〜3（確定分）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170432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ADグループ対応表・OneLogin手順・認可ルール16件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9144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160934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情報収集・確認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1975104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Q10・Q6〜9・Q13〜14・Q16・Q19 の確認事項を整理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8595360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9144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" y="2560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4140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Task 2・3 空欄を埋める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779776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グループ5〜8 のロール作成・認可ルール追加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378A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914400" cy="3840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3364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2186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中国拠点テスト実施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584448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TCP 443 接続 → ping → 業務システム確認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180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914400" cy="384048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74320" y="4169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25880" y="4023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本番移行（Phase 2）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389120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全115名展開・Cisco VPN 撤去・3月末 EOL 前に完了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ADグループ → OneLoginロール の対応表（全8件）作成済み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認可ルール 確定分16件 は今すぐ AWS コンソールに投入可能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STEP 2〜5 の手順書（OneLogin / .ovpn / 国内テスト / 中国テスト）整備済み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グループ5〜8 のアクセス先IP と SID は確認が必要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.ovpn は国内用（UDP 1194）と中国用（TCP 443）の2種類を配布先で使い分け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詳細  OneLogin 設定 — 6サブステップ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68096"/>
            <a:ext cx="4206240" cy="347472"/>
          </a:xfrm>
          <a:prstGeom prst="rect">
            <a:avLst/>
          </a:prstGeom>
          <a:solidFill>
            <a:srgbClr val="1D4E8F"/>
          </a:solidFill>
          <a:ln w="12700">
            <a:solidFill>
              <a:srgbClr val="1D4E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01752" y="768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2-1　AWS IAM に SAML IdP 登録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206240" cy="1024128"/>
          </a:xfrm>
          <a:prstGeom prst="rect">
            <a:avLst/>
          </a:prstGeom>
          <a:solidFill>
            <a:srgbClr val="E6F1FB"/>
          </a:solidFill>
          <a:ln w="12700">
            <a:solidFill>
              <a:srgbClr val="1D4E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OneLogin からメタデータ XML をダウンロード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AWS IAM → IDプロバイダー → プロバイダーを追加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プロバイダー ARN をメモ（後で使う）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768096"/>
            <a:ext cx="4206240" cy="347472"/>
          </a:xfrm>
          <a:prstGeom prst="rect">
            <a:avLst/>
          </a:prstGeom>
          <a:solidFill>
            <a:srgbClr val="1D4E8F"/>
          </a:solidFill>
          <a:ln w="12700">
            <a:solidFill>
              <a:srgbClr val="1D4E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82312" y="768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2-2　OneLogin にアプリ作成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4206240" cy="1024128"/>
          </a:xfrm>
          <a:prstGeom prst="rect">
            <a:avLst/>
          </a:prstGeom>
          <a:solidFill>
            <a:srgbClr val="E6F1FB"/>
          </a:solidFill>
          <a:ln w="12700">
            <a:solidFill>
              <a:srgbClr val="1D4E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800600" y="1170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Add App → AWS Client VPN を作成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4447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ACS URL：http://127.0.0.1:35001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7190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Audience URI：urn:amazon:webservices:clientvpn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420624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01752" y="2194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2-3　ロール作成（8グループ分）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542032"/>
            <a:ext cx="4206240" cy="102412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20040" y="25968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Users → Roles → New Role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8712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ロール名は ADグループ名と完全一致（コピペ）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145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Apps タブで AWS Client VPN を紐づけ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420624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782312" y="2194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2-4　ユーザーをロールに割り当て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206240" cy="102412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800600" y="25968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ロール → Users タブ → Add Users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8712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ADグループのメンバーと同じ構成で割り当て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145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PoC はテストユーザー3名から開始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621024"/>
            <a:ext cx="4206240" cy="34747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01752" y="36210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2-5　memberOf 属性マッピング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3968496"/>
            <a:ext cx="4206240" cy="1024128"/>
          </a:xfrm>
          <a:prstGeom prst="rect">
            <a:avLst/>
          </a:prstGeom>
          <a:solidFill>
            <a:srgbClr val="FFF3CD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20040" y="40233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Apps → Parameters タブ → + で追加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42976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Field name：memberOf / Value：User Roles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572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Include in SAML：ON、Multi-value：ON（必須）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621024"/>
            <a:ext cx="4206240" cy="347472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782312" y="36210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2-6　動作確認（SAML Test）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3968496"/>
            <a:ext cx="4206240" cy="1024128"/>
          </a:xfrm>
          <a:prstGeom prst="rect">
            <a:avLst/>
          </a:prstGeom>
          <a:solidFill>
            <a:srgbClr val="E1F5EE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800600" y="40233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Apps → More Actions → Test SAML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42976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XML に &lt;Attribute Name="memberOf"&gt; があるか確認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4572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・ ロール名が完全一致かチェック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873752"/>
            <a:ext cx="8686800" cy="201168"/>
          </a:xfrm>
          <a:prstGeom prst="rect">
            <a:avLst/>
          </a:prstGeom>
          <a:solidFill>
            <a:srgbClr val="FFF3CD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320040" y="487375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33806"/>
                </a:solidFill>
              </a:rPr>
              <a:t>2-5 が最重要：Include in SAML = ON を忘れると VPN 接続後に全員アクセス拒否になる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 .ovpn ファイルとは？ — 配布手順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68096"/>
            <a:ext cx="4206240" cy="384048"/>
          </a:xfrm>
          <a:prstGeom prst="rect">
            <a:avLst/>
          </a:prstGeom>
          <a:solidFill>
            <a:srgbClr val="1D4E8F"/>
          </a:solidFill>
          <a:ln w="12700">
            <a:solidFill>
              <a:srgbClr val="1D4E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28600" y="7680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.ovpn ファイルとは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420624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</a:rPr>
              <a:t>VPN 接続設定が全部入ったファイル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・接続先サーバー・ポート番号・認証方式
・サーバー証明書（ユーザー認証情報は含まない）
・全ユーザー共通で同じファイルを使用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212848"/>
            <a:ext cx="420624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22128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2種類を用意して配布先で使い分ける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578608"/>
            <a:ext cx="20116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28600" y="2596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447C"/>
                </a:solidFill>
              </a:rPr>
              <a:t>国内ユーザー用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UDP  port 1194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2578608"/>
            <a:ext cx="2011680" cy="658368"/>
          </a:xfrm>
          <a:prstGeom prst="rect">
            <a:avLst/>
          </a:prstGeom>
          <a:solidFill>
            <a:srgbClr val="FFF3CD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423160" y="2596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3806"/>
                </a:solidFill>
              </a:rPr>
              <a:t>中国拠点用（GFW対策）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TCP  port 443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273552"/>
            <a:ext cx="4206240" cy="329184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28600" y="32735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ユーザー側の操作（これだけ）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602736"/>
            <a:ext cx="4206240" cy="128016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</a:rPr>
              <a:t>① .ovpn ファイルを受け取る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89534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</a:rPr>
              <a:t>② AWS VPN Client を起動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13308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</a:rPr>
              <a:t>③ ファイルを読み込む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3708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</a:rPr>
              <a:t>④ 接続ボタン → ブラウザが開く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60857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</a:rPr>
              <a:t>⑤ OneLogin で ID/PW + MFA → 接続完了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768096"/>
            <a:ext cx="420624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7680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配布手順（日本側の作業）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298448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70916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02352" y="1225296"/>
            <a:ext cx="38130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193792" y="1261872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.ovpn をダウンロード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1554480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コンソール → エンドポイント詳細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クライアント設定をダウンロード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231136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70916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02352" y="2157984"/>
            <a:ext cx="38130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193792" y="2194560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配布方法を選択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3792" y="2487168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A）セルフサービスポータル URL を送付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B）ファイルをメール添付で直送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163824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470916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02352" y="3090672"/>
            <a:ext cx="38130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193792" y="3127248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インストール確認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3419856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VPN Client をインストール済みか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中国拠点の端末 OS を事前確認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4096512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470916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102352" y="4023360"/>
            <a:ext cx="38130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193792" y="4059936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読み込み手順を案内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93792" y="4352544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Manage Profiles → Add Profile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.ovpn ファイルを選択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4873752"/>
            <a:ext cx="868680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320040" y="487375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6E56"/>
                </a:solidFill>
              </a:rPr>
              <a:t>中国拠点への配布前に OS（Windows / Mac）を確認 — 端末種別により手順が異なる場合あり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967</Words>
  <Application>Microsoft Office PowerPoint</Application>
  <PresentationFormat>画面に合わせる (16:9)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Client VPN 移行 PoC 進捗</dc:title>
  <dc:subject>PptxGenJS Presentation</dc:subject>
  <dc:creator>PptxGenJS</dc:creator>
  <cp:lastModifiedBy>担当者 聡</cp:lastModifiedBy>
  <cp:revision>1</cp:revision>
  <dcterms:created xsi:type="dcterms:W3CDTF">2026-03-26T04:39:42Z</dcterms:created>
  <dcterms:modified xsi:type="dcterms:W3CDTF">2026-03-26T04:46:21Z</dcterms:modified>
</cp:coreProperties>
</file>